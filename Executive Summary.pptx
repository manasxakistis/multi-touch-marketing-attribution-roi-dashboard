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($M)</c:v>
                </c:pt>
              </c:strCache>
            </c:strRef>
          </c:tx>
          <c:spPr>
            <a:solidFill>
              <a:srgbClr val="3A7D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Display</c:v>
                  </c:pt>
                  <c:pt idx="1">
                    <c:v>Influencer</c:v>
                  </c:pt>
                  <c:pt idx="2">
                    <c:v>Email</c:v>
                  </c:pt>
                  <c:pt idx="3">
                    <c:v>Search</c:v>
                  </c:pt>
                  <c:pt idx="4">
                    <c:v>Social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5.34</c:v>
                </c:pt>
                <c:pt idx="1">
                  <c:v>5.28</c:v>
                </c:pt>
                <c:pt idx="2">
                  <c:v>5.07</c:v>
                </c:pt>
                <c:pt idx="3">
                  <c:v>4.92</c:v>
                </c:pt>
                <c:pt idx="4">
                  <c:v>4.92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8AA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Display</c:v>
                  </c:pt>
                  <c:pt idx="1">
                    <c:v>Influencer</c:v>
                  </c:pt>
                  <c:pt idx="2">
                    <c:v>Email</c:v>
                  </c:pt>
                  <c:pt idx="3">
                    <c:v>Search</c:v>
                  </c:pt>
                  <c:pt idx="4">
                    <c:v>Social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10.72</c:v>
                </c:pt>
                <c:pt idx="1">
                  <c:v>10.56</c:v>
                </c:pt>
                <c:pt idx="2">
                  <c:v>10.13</c:v>
                </c:pt>
                <c:pt idx="3">
                  <c:v>9.9</c:v>
                </c:pt>
                <c:pt idx="4">
                  <c:v>9.73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B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C2B2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(x)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Display</c:v>
                  </c:pt>
                  <c:pt idx="1">
                    <c:v>Search</c:v>
                  </c:pt>
                  <c:pt idx="2">
                    <c:v>Influencer</c:v>
                  </c:pt>
                  <c:pt idx="3">
                    <c:v>Email</c:v>
                  </c:pt>
                  <c:pt idx="4">
                    <c:v>Social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2.01</c:v>
                </c:pt>
                <c:pt idx="1">
                  <c:v>2.01</c:v>
                </c:pt>
                <c:pt idx="2">
                  <c:v>2</c:v>
                </c:pt>
                <c:pt idx="3">
                  <c:v>2</c:v>
                </c:pt>
                <c:pt idx="4">
                  <c:v>1.98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B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05"/>
          <c:min val="1.9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($M)</c:v>
                </c:pt>
              </c:strCache>
            </c:strRef>
          </c:tx>
          <c:spPr>
            <a:solidFill>
              <a:srgbClr val="E8AA3D"/>
            </a:solidFill>
            <a:ln w="38100" cap="flat">
              <a:solidFill>
                <a:srgbClr val="E8AA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A3D"/>
              </a:solidFill>
              <a:ln w="9525" cap="flat">
                <a:solidFill>
                  <a:srgbClr val="E8AA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2.12</c:v>
                </c:pt>
                <c:pt idx="1">
                  <c:v>1.96</c:v>
                </c:pt>
                <c:pt idx="2">
                  <c:v>2.16</c:v>
                </c:pt>
                <c:pt idx="3">
                  <c:v>2.27</c:v>
                </c:pt>
                <c:pt idx="4">
                  <c:v>2.25</c:v>
                </c:pt>
                <c:pt idx="5">
                  <c:v>2.09</c:v>
                </c:pt>
                <c:pt idx="6">
                  <c:v>2.14</c:v>
                </c:pt>
                <c:pt idx="7">
                  <c:v>2.19</c:v>
                </c:pt>
                <c:pt idx="8">
                  <c:v>1.99</c:v>
                </c:pt>
                <c:pt idx="9">
                  <c:v>2.15</c:v>
                </c:pt>
                <c:pt idx="10">
                  <c:v>2.13</c:v>
                </c:pt>
                <c:pt idx="11">
                  <c:v>2.08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3A7D5C"/>
            </a:solidFill>
            <a:ln w="38100" cap="flat">
              <a:solidFill>
                <a:srgbClr val="3A7D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7D5C"/>
              </a:solidFill>
              <a:ln w="9525" cap="flat">
                <a:solidFill>
                  <a:srgbClr val="3A7D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4.32</c:v>
                </c:pt>
                <c:pt idx="1">
                  <c:v>3.92</c:v>
                </c:pt>
                <c:pt idx="2">
                  <c:v>4.36</c:v>
                </c:pt>
                <c:pt idx="3">
                  <c:v>4.58</c:v>
                </c:pt>
                <c:pt idx="4">
                  <c:v>4.53</c:v>
                </c:pt>
                <c:pt idx="5">
                  <c:v>4.08</c:v>
                </c:pt>
                <c:pt idx="6">
                  <c:v>4.24</c:v>
                </c:pt>
                <c:pt idx="7">
                  <c:v>4.39</c:v>
                </c:pt>
                <c:pt idx="8">
                  <c:v>3.96</c:v>
                </c:pt>
                <c:pt idx="9">
                  <c:v>4.36</c:v>
                </c:pt>
                <c:pt idx="10">
                  <c:v>4.17</c:v>
                </c:pt>
                <c:pt idx="11">
                  <c:v>4.11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C2B2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3A7D5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E8AA3D">
              <a:alpha val="15000"/>
            </a:srgbClr>
          </a:solidFill>
          <a:ln/>
        </p:spPr>
      </p:sp>
      <p:pic>
        <p:nvPicPr>
          <p:cNvPr id="4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21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Review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evaluation of 10,000 campaigns across five channels — January to December 2025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0881360" cy="18288"/>
          </a:xfrm>
          <a:prstGeom prst="rect">
            <a:avLst/>
          </a:prstGeom>
          <a:solidFill>
            <a:srgbClr val="3A7D5C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257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Evaluators   </a:t>
            </a:r>
            <a:pPr indent="0" marL="0">
              <a:buNone/>
            </a:pPr>
            <a:r>
              <a:rPr lang="en-US" sz="1200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10,000 Campaigns Analyzed   |   Jul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performance across every campaign, channel, and month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3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502920" cy="502920"/>
          </a:xfrm>
          <a:prstGeom prst="ellipse">
            <a:avLst/>
          </a:prstGeom>
          <a:solidFill>
            <a:srgbClr val="3A7D5C"/>
          </a:solidFill>
          <a:ln/>
        </p:spPr>
      </p:sp>
      <p:pic>
        <p:nvPicPr>
          <p:cNvPr id="6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7236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2219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49808" y="2715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Run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channels, full year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3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84448" y="1618488"/>
            <a:ext cx="502920" cy="502920"/>
          </a:xfrm>
          <a:prstGeom prst="ellipse">
            <a:avLst/>
          </a:prstGeom>
          <a:solidFill>
            <a:srgbClr val="3A7D5C"/>
          </a:solidFill>
          <a:ln/>
        </p:spPr>
      </p:sp>
      <p:pic>
        <p:nvPicPr>
          <p:cNvPr id="12" name="Image 1" descr="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172364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22219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$51.0M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584448" y="2715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84448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$25.5M cost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3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19088" y="1618488"/>
            <a:ext cx="502920" cy="502920"/>
          </a:xfrm>
          <a:prstGeom prst="ellipse">
            <a:avLst/>
          </a:prstGeom>
          <a:solidFill>
            <a:srgbClr val="3A7D5C"/>
          </a:solidFill>
          <a:ln/>
        </p:spPr>
      </p:sp>
      <p:pic>
        <p:nvPicPr>
          <p:cNvPr id="18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172364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22219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2.00x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6419088" y="2715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ROI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19088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returns $2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2560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3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53728" y="1618488"/>
            <a:ext cx="502920" cy="502920"/>
          </a:xfrm>
          <a:prstGeom prst="ellipse">
            <a:avLst/>
          </a:prstGeom>
          <a:solidFill>
            <a:srgbClr val="3A7D5C"/>
          </a:solidFill>
          <a:ln/>
        </p:spPr>
      </p:sp>
      <p:pic>
        <p:nvPicPr>
          <p:cNvPr id="24" name="Image 3" descr="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172364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53728" y="22219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$25.5M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9253728" y="27157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253728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margin on spend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3520440"/>
            <a:ext cx="11064240" cy="2651760"/>
          </a:xfrm>
          <a:prstGeom prst="roundRect">
            <a:avLst>
              <a:gd name="adj" fmla="val 2069"/>
            </a:avLst>
          </a:prstGeom>
          <a:solidFill>
            <a:srgbClr val="0B3D2E"/>
          </a:solidFill>
          <a:ln/>
        </p:spPr>
      </p:sp>
      <p:pic>
        <p:nvPicPr>
          <p:cNvPr id="29" name="Image 4" descr="icons/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67328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3749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868680" y="42519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is profitable and clusters tightly around a 2.0x ROI — this is a mature, well-calibrated program rather than one built on a single standout channel.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leads on absolute revenue ($10.7M), while Search converts most efficiently (12.25% of clicks). The funnel narrows predictably: 5.5% of impressions click, 30% of clicks become leads, and 40% of leads convert.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Conversion Funnel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audience is won — and where it's lost — across 1.5 billion impressions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9875520" cy="896112"/>
          </a:xfrm>
          <a:prstGeom prst="roundRect">
            <a:avLst>
              <a:gd name="adj" fmla="val 6122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8196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3736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1,522.6M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882189" y="2587752"/>
            <a:ext cx="6122822" cy="896112"/>
          </a:xfrm>
          <a:prstGeom prst="roundRect">
            <a:avLst>
              <a:gd name="adj" fmla="val 6122"/>
            </a:avLst>
          </a:prstGeom>
          <a:solidFill>
            <a:srgbClr val="3A7D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cons/cli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789" y="28529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3709" y="2660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613709" y="2999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83.4M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627571" y="258775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5.48% CTR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067251" y="3621024"/>
            <a:ext cx="3752698" cy="896112"/>
          </a:xfrm>
          <a:prstGeom prst="roundRect">
            <a:avLst>
              <a:gd name="adj" fmla="val 6122"/>
            </a:avLst>
          </a:prstGeom>
          <a:solidFill>
            <a:srgbClr val="5FAE8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cons/fun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51" y="38862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98771" y="3694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798771" y="40325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25.1M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5442509" y="3621024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30.13% of clicks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956048" y="4654296"/>
            <a:ext cx="1975104" cy="896112"/>
          </a:xfrm>
          <a:prstGeom prst="roundRect">
            <a:avLst>
              <a:gd name="adj" fmla="val 6122"/>
            </a:avLst>
          </a:prstGeom>
          <a:solidFill>
            <a:srgbClr val="8FD3B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491947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87568" y="4727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687568" y="50657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10.1M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4553712" y="4654296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40.23% of leads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57332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click-through is the widest gate (94.5% drop-off), but downstream conversion quality is strong — once a lead is captured, 2 in 5 convert.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Cost by Channel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leads in absolute revenue; every channel comfortably outspends its cost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Investment by Channel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remarkably even spread — no channel is subsidizing another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63040"/>
            <a:ext cx="457200" cy="457200"/>
          </a:xfrm>
          <a:prstGeom prst="ellipse">
            <a:avLst/>
          </a:prstGeom>
          <a:solidFill>
            <a:srgbClr val="3A7D5C"/>
          </a:solidFill>
          <a:ln/>
        </p:spPr>
      </p:sp>
      <p:pic>
        <p:nvPicPr>
          <p:cNvPr id="6" name="Image 0" descr="icons/dis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4" y="1563624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38160" y="1435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138160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contributor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543800" y="2304288"/>
            <a:ext cx="457200" cy="457200"/>
          </a:xfrm>
          <a:prstGeom prst="ellipse">
            <a:avLst/>
          </a:prstGeom>
          <a:solidFill>
            <a:srgbClr val="3A7D5C"/>
          </a:solidFill>
          <a:ln/>
        </p:spPr>
      </p:sp>
      <p:pic>
        <p:nvPicPr>
          <p:cNvPr id="10" name="Image 1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240487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38160" y="2276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138160" y="2551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efficiency (12.25%)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543800" y="3145536"/>
            <a:ext cx="457200" cy="457200"/>
          </a:xfrm>
          <a:prstGeom prst="ellipse">
            <a:avLst/>
          </a:prstGeom>
          <a:solidFill>
            <a:srgbClr val="3A7D5C"/>
          </a:solidFill>
          <a:ln/>
        </p:spPr>
      </p:sp>
      <p:pic>
        <p:nvPicPr>
          <p:cNvPr id="14" name="Image 2" descr="icons/influenc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324612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38160" y="31181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138160" y="33924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audience reach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7543800" y="3986784"/>
            <a:ext cx="457200" cy="457200"/>
          </a:xfrm>
          <a:prstGeom prst="ellipse">
            <a:avLst/>
          </a:prstGeom>
          <a:solidFill>
            <a:srgbClr val="3A7D5C"/>
          </a:solidFill>
          <a:ln/>
        </p:spPr>
      </p:sp>
      <p:pic>
        <p:nvPicPr>
          <p:cNvPr id="18" name="Image 3" descr="icons/em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384" y="408736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38160" y="39593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8138160" y="4233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click-through rate (5.54%)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543800" y="4828032"/>
            <a:ext cx="457200" cy="457200"/>
          </a:xfrm>
          <a:prstGeom prst="ellipse">
            <a:avLst/>
          </a:prstGeom>
          <a:solidFill>
            <a:srgbClr val="3A7D5C"/>
          </a:solidFill>
          <a:ln/>
        </p:spPr>
      </p:sp>
      <p:pic>
        <p:nvPicPr>
          <p:cNvPr id="22" name="Image 4" descr="icons/soci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4928616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38160" y="4800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8138160" y="5074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room to optimize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Cost vs. Revenue Trend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tracks cost consistently all year — no seasonal ROI collapse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Metrics by Channel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breakdown: click-through, conversion rate, and cost efficiency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737360"/>
                <a:gridCol w="1828800"/>
                <a:gridCol w="17373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A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A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A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7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3F7F5"/>
          </a:solidFill>
          <a:ln/>
        </p:spPr>
      </p:sp>
      <p:pic>
        <p:nvPicPr>
          <p:cNvPr id="6" name="Image 0" descr="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4632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4828032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= Cost per Acquisition, the average spend to secure one conversion.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the most cost-efficient channel (lowest CPA), while Search converts the highest share of clicks — together they suggest reallocating incremental budget toward these two before scaling Social.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Extremes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and worst individual campaigns by ROI — outliers worth a closer look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0F8F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Top-Performing Campaigns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CAMP00427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3172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1188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5968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$4,362.61  →  Rev $13,071.47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8680" y="2990088"/>
            <a:ext cx="4480560" cy="7315"/>
          </a:xfrm>
          <a:prstGeom prst="rect">
            <a:avLst/>
          </a:prstGeom>
          <a:solidFill>
            <a:srgbClr val="D8E8E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CAMP00143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3172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1188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33741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$3,743.41  →  Rev $11,217.85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68680" y="3767328"/>
            <a:ext cx="4480560" cy="7315"/>
          </a:xfrm>
          <a:prstGeom prst="rect">
            <a:avLst/>
          </a:prstGeom>
          <a:solidFill>
            <a:srgbClr val="D8E8E0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CAMP00203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3172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11880" y="3840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2.00x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4151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$415.48  →  Rev $1,245.51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68680" y="4544568"/>
            <a:ext cx="4480560" cy="7315"/>
          </a:xfrm>
          <a:prstGeom prst="rect">
            <a:avLst/>
          </a:prstGeom>
          <a:solidFill>
            <a:srgbClr val="D8E8E0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47548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top campaigns pair a lean cost base with strong revenue multiples — precision targeting beats raw spend.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26480" y="14630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BF3E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00800" y="1691640"/>
            <a:ext cx="365760" cy="365760"/>
          </a:xfrm>
          <a:prstGeom prst="ellipse">
            <a:avLst/>
          </a:prstGeom>
          <a:solidFill>
            <a:srgbClr val="C0603A"/>
          </a:solidFill>
          <a:ln/>
        </p:spPr>
      </p:sp>
      <p:pic>
        <p:nvPicPr>
          <p:cNvPr id="25" name="Image 1" descr="icons/arrow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492240" y="1783080"/>
            <a:ext cx="182880" cy="1828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49440" y="1691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3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Campaigns Needing Review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44652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CAMP00113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90956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918972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0.00x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446520" y="2596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$498.28  →  Rev $498.97 (broke even)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446520" y="2990088"/>
            <a:ext cx="5029200" cy="7315"/>
          </a:xfrm>
          <a:prstGeom prst="rect">
            <a:avLst/>
          </a:prstGeom>
          <a:solidFill>
            <a:srgbClr val="EAD8CC"/>
          </a:solidFill>
          <a:ln/>
        </p:spPr>
      </p:sp>
      <p:sp>
        <p:nvSpPr>
          <p:cNvPr id="32" name="Text 28"/>
          <p:cNvSpPr/>
          <p:nvPr/>
        </p:nvSpPr>
        <p:spPr>
          <a:xfrm>
            <a:off x="644652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CAMP00453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90956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918972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0.00x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446520" y="33741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$2,199.91  →  Rev $2,207.45 (broke even)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446520" y="3767328"/>
            <a:ext cx="5029200" cy="7315"/>
          </a:xfrm>
          <a:prstGeom prst="rect">
            <a:avLst/>
          </a:prstGeom>
          <a:solidFill>
            <a:srgbClr val="EAD8CC"/>
          </a:solidFill>
          <a:ln/>
        </p:spPr>
      </p:sp>
      <p:sp>
        <p:nvSpPr>
          <p:cNvPr id="37" name="Text 33"/>
          <p:cNvSpPr/>
          <p:nvPr/>
        </p:nvSpPr>
        <p:spPr>
          <a:xfrm>
            <a:off x="644652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CAMP00477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90956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9189720" y="3840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0.00x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446520" y="41513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$3,686.54  →  Rev $3,698.54 (broke even)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446520" y="4544568"/>
            <a:ext cx="5029200" cy="7315"/>
          </a:xfrm>
          <a:prstGeom prst="rect">
            <a:avLst/>
          </a:prstGeom>
          <a:solidFill>
            <a:srgbClr val="EAD8CC"/>
          </a:solidFill>
          <a:ln/>
        </p:spPr>
      </p:sp>
      <p:sp>
        <p:nvSpPr>
          <p:cNvPr id="42" name="Text 38"/>
          <p:cNvSpPr/>
          <p:nvPr/>
        </p:nvSpPr>
        <p:spPr>
          <a:xfrm>
            <a:off x="6446520" y="4754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3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laggards broke even rather than lost money — a diagnostic audit of targeting and creative could recover this spend.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grounded in the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503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E8AA3D"/>
          </a:solidFill>
          <a:ln/>
        </p:spPr>
      </p:sp>
      <p:pic>
        <p:nvPicPr>
          <p:cNvPr id="6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9796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Reallocate toward Search &amp; Email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conversion efficiency and lowest CPA — shift 5–10% of Social budget here.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503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E8AA3D"/>
          </a:solidFill>
          <a:ln/>
        </p:spPr>
      </p:sp>
      <p:pic>
        <p:nvPicPr>
          <p:cNvPr id="11" name="Image 1" descr="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19796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56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zero-ROI campaigns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cohort broke even rather than profited; diagnose targeting and creative fatigue.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503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E8AA3D"/>
          </a:solidFill>
          <a:ln/>
        </p:spPr>
      </p:sp>
      <p:pic>
        <p:nvPicPr>
          <p:cNvPr id="16" name="Image 2" descr="icons/fun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42199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the click stage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 of impressions never click — the single largest drop-off point in the funnel.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503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rgbClr val="E8AA3D"/>
          </a:solidFill>
          <a:ln/>
        </p:spPr>
      </p:sp>
      <p:pic>
        <p:nvPicPr>
          <p:cNvPr id="21" name="Image 3" descr="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421995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top-campaign patterns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cost bases with sharp targeting outperform high-spend, broad-reach campaigns.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3A7D5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E8AA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3657600" cy="18288"/>
          </a:xfrm>
          <a:prstGeom prst="rect">
            <a:avLst/>
          </a:prstGeom>
          <a:solidFill>
            <a:srgbClr val="E8AA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D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Review  |  10,000 Campaigns  |  FY2025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Campaign Performance Review</dc:title>
  <dc:subject>PptxGenJS Presentation</dc:subject>
  <dc:creator>Marketing Analytics</dc:creator>
  <cp:lastModifiedBy>Marketing Analytics</cp:lastModifiedBy>
  <cp:revision>1</cp:revision>
  <dcterms:created xsi:type="dcterms:W3CDTF">2026-07-02T10:17:28Z</dcterms:created>
  <dcterms:modified xsi:type="dcterms:W3CDTF">2026-07-02T10:17:28Z</dcterms:modified>
</cp:coreProperties>
</file>